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0" r:id="rId6"/>
    <p:sldId id="264" r:id="rId15"/>
    <p:sldId id="265" r:id="rId1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4" Type="http://schemas.openxmlformats.org/officeDocument/2006/relationships/tableStyles" Target="tableStyles.xml"/>  <Relationship Id="rId15" Type="http://schemas.openxmlformats.org/officeDocument/2006/relationships/slide" Target="slides/slide9.xml"/>
  <Relationship Id="rId16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718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ork/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512" y="5029200"/>
            <a:ext cx="2011680" cy="1508760"/>
          </a:xfrm>
          <a:prstGeom prst="rect">
            <a:avLst/>
          </a:prstGeom>
        </p:spPr>
      </p:pic>
      <p:pic>
        <p:nvPicPr>
          <p:cNvPr id="4" name="Image 2" descr="/tmp/work/maxim_logo_transparent_subtit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6874" y="1208123"/>
            <a:ext cx="12965747" cy="329130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914400" y="416052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Humanoid Robotics: Who's Actually Winning</a:t>
            </a:r>
            <a:endParaRPr lang="en-US" sz="3000" dirty="0"/>
          </a:p>
        </p:txBody>
      </p:sp>
      <p:sp>
        <p:nvSpPr>
          <p:cNvPr id="6" name="Text 1"/>
          <p:cNvSpPr/>
          <p:nvPr/>
        </p:nvSpPr>
        <p:spPr>
          <a:xfrm>
            <a:off x="914400" y="48006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10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Figure AI vs. Tesla Optimus vs. Unitree</a:t>
            </a:r>
            <a:endParaRPr lang="en-US" sz="1500" dirty="0"/>
          </a:p>
        </p:txBody>
      </p:sp>
      <p:sp>
        <p:nvSpPr>
          <p:cNvPr id="7" name="Text 2"/>
          <p:cNvSpPr/>
          <p:nvPr/>
        </p:nvSpPr>
        <p:spPr>
          <a:xfrm>
            <a:off x="914400" y="60807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00" dirty="0">
                <a:solidFill>
                  <a:srgbClr val="7179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Research, August 2026</a:t>
            </a:r>
            <a:endParaRPr lang="en-US" sz="1200" dirty="0"/>
          </a:p>
        </p:txBody>
      </p:sp>
      <p:pic>
        <p:nvPicPr>
          <p:cNvPr id="9" name="Image 0" descr="/tmp/work/motif.png">
            <a:extLst>
              <a:ext uri="{FF2B5EF4-FFF2-40B4-BE49-F238E27FC236}">
                <a16:creationId xmlns:a16="http://schemas.microsoft.com/office/drawing/2014/main" id="{B3C59680-4528-590A-6C85-4B4314E88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38" y="241536"/>
            <a:ext cx="201168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ork/maxim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8712" y="411480"/>
            <a:ext cx="1371600" cy="3918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0C1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Figure AI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4630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53E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Best-funded pure-play humanoid. Builds the robot, the AI, and the factory itself.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solidFill>
            <a:srgbClr val="468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28529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3E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Edge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34440" y="317296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179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Full-stack vertical integration (Figure 03 + Helix AI + BotQ factory) on the deepest capital base in the sector.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solidFill>
            <a:srgbClr val="4DA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34440" y="38130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3E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Progress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34440" y="41330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179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11-month BMW pilot: 90,000+ parts loaded. 30-hr autonomous warehouse shift, zero human intervention. BotQ ramping toward 12,000 units/yr.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solidFill>
            <a:srgbClr val="1C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34440" y="47731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3E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Likelihood of winning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34440" y="50932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179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on the AI-first generalist track. Biggest risk: pre-revenue at $39B, BotQ still far below its production target.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0" y="1417320"/>
            <a:ext cx="5120640" cy="4754880"/>
          </a:xfrm>
          <a:prstGeom prst="rect">
            <a:avLst/>
          </a:prstGeom>
          <a:solidFill>
            <a:srgbClr val="1C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812280" y="1783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signals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812280" y="2523744"/>
            <a:ext cx="128016" cy="128016"/>
          </a:xfrm>
          <a:prstGeom prst="rect">
            <a:avLst/>
          </a:prstGeom>
          <a:solidFill>
            <a:srgbClr val="68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086600" y="2468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$39B valuation, $1.9B+ raised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812280" y="3054096"/>
            <a:ext cx="128016" cy="128016"/>
          </a:xfrm>
          <a:prstGeom prst="rect">
            <a:avLst/>
          </a:prstGeom>
          <a:solidFill>
            <a:srgbClr val="68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086600" y="2999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BotQ: 240 units/month (Apr 2026)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812280" y="3584448"/>
            <a:ext cx="128016" cy="128016"/>
          </a:xfrm>
          <a:prstGeom prst="rect">
            <a:avLst/>
          </a:prstGeom>
          <a:solidFill>
            <a:srgbClr val="68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086600" y="35295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BMW Spartanburg: 30,000+ X3 builds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812280" y="4114800"/>
            <a:ext cx="128016" cy="128016"/>
          </a:xfrm>
          <a:prstGeom prst="rect">
            <a:avLst/>
          </a:prstGeom>
          <a:solidFill>
            <a:srgbClr val="68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086600" y="40599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Figure 03 built for home environments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ork/motif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9994392" y="5166360"/>
            <a:ext cx="18288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Verdict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31520" y="2011680"/>
            <a:ext cx="3291840" cy="2834640"/>
          </a:xfrm>
          <a:prstGeom prst="rect">
            <a:avLst/>
          </a:prstGeom>
          <a:solidFill>
            <a:srgbClr val="1C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31520" y="23317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7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$39B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005840" y="3611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Figure AI: best-funded, real BMW deployment, biggest execution risk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389120" y="2011680"/>
            <a:ext cx="3291840" cy="2834640"/>
          </a:xfrm>
          <a:prstGeom prst="rect">
            <a:avLst/>
          </a:prstGeom>
          <a:solidFill>
            <a:srgbClr val="1C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389120" y="23317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DA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1,000+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4663440" y="3611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Tesla Optimus: highest ceiling, still “primarily for learning” per Musk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46720" y="2011680"/>
            <a:ext cx="3291840" cy="2834640"/>
          </a:xfrm>
          <a:prstGeom prst="rect">
            <a:avLst/>
          </a:prstGeom>
          <a:solidFill>
            <a:srgbClr val="1C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046720" y="23317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68E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$9B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8321040" y="3611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Unitree: first to IPO, only profitable player, wins on cost not capability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ork/maxim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8712" y="411480"/>
            <a:ext cx="1371600" cy="3918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0C1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Tesla Optimus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4630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53E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Mass-market cost bet, reusing Tesla's manufacturing scale and FSD-derived AI stack.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solidFill>
            <a:srgbClr val="468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28529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3E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Edge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34440" y="317296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179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Unmatched manufacturing scale. Converts existing EV lines instead of building robotics capacity from scratch, and owns the AI/vision stack via FSD.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solidFill>
            <a:srgbClr val="4DA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34440" y="38130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3E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Progress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34440" y="41330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179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1,000+ Gen 3 units on the Fremont floor (Jan 2026). Optimus 3 production confirmed to start Summer 2026, high-volume by Summer 2027.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solidFill>
            <a:srgbClr val="1C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34440" y="47731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3E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Likelihood of winning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34440" y="50932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179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Highest ceiling of the three, but the biggest gap between announced timeline and demonstrated capability. Musk: units are “primarily for learning.”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0" y="1417320"/>
            <a:ext cx="5120640" cy="4754880"/>
          </a:xfrm>
          <a:prstGeom prst="rect">
            <a:avLst/>
          </a:prstGeom>
          <a:solidFill>
            <a:srgbClr val="1C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812280" y="1783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signals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812280" y="2523744"/>
            <a:ext cx="128016" cy="128016"/>
          </a:xfrm>
          <a:prstGeom prst="rect">
            <a:avLst/>
          </a:prstGeom>
          <a:solidFill>
            <a:srgbClr val="68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086600" y="2468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price: $20k–$30k at scale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812280" y="3054096"/>
            <a:ext cx="128016" cy="128016"/>
          </a:xfrm>
          <a:prstGeom prst="rect">
            <a:avLst/>
          </a:prstGeom>
          <a:solidFill>
            <a:srgbClr val="68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086600" y="2999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Fremont line: 1M units/yr by late 2026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812280" y="3584448"/>
            <a:ext cx="128016" cy="128016"/>
          </a:xfrm>
          <a:prstGeom prst="rect">
            <a:avLst/>
          </a:prstGeom>
          <a:solidFill>
            <a:srgbClr val="68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086600" y="35295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Giga Texas: 10M units/yr capacity (2027)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812280" y="4114800"/>
            <a:ext cx="128016" cy="128016"/>
          </a:xfrm>
          <a:prstGeom prst="rect">
            <a:avLst/>
          </a:prstGeom>
          <a:solidFill>
            <a:srgbClr val="68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086600" y="40599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Multiple V3 reveal delays through 2026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ork/maxim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8712" y="411480"/>
            <a:ext cx="1371600" cy="3918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0C1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Unitree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4630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53E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Chinese price-to-performance leader. The only major humanoid player that's actually profitable.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solidFill>
            <a:srgbClr val="468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28529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3E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Edge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34440" y="317296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179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Proven unit economics at $5,900–$16,000 price points, backed by China's manufacturing base. Shipped and working beats roadmap promises.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solidFill>
            <a:srgbClr val="4DA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34440" y="38130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3E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Progress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34440" y="41330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179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Shanghai IPO priced Aug 2026: ~$904M raised, ~$9B valuation, first mainland-listed humanoid maker. 5,500+ units shipped in 2025.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solidFill>
            <a:srgbClr val="1C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34440" y="47731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3E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Likelihood of winning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34440" y="50932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179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 odds in the volume/cost segment, not the AI-capability race. Risk: Q1 2026 adjusted profit fell 52.6% as R&amp;D spend ramped.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0" y="1417320"/>
            <a:ext cx="5120640" cy="4754880"/>
          </a:xfrm>
          <a:prstGeom prst="rect">
            <a:avLst/>
          </a:prstGeom>
          <a:solidFill>
            <a:srgbClr val="1C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812280" y="1783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signals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812280" y="2523744"/>
            <a:ext cx="128016" cy="128016"/>
          </a:xfrm>
          <a:prstGeom prst="rect">
            <a:avLst/>
          </a:prstGeom>
          <a:solidFill>
            <a:srgbClr val="68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086600" y="2468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 revenue: ~$252M, up 4x+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812280" y="3054096"/>
            <a:ext cx="128016" cy="128016"/>
          </a:xfrm>
          <a:prstGeom prst="rect">
            <a:avLst/>
          </a:prstGeom>
          <a:solidFill>
            <a:srgbClr val="68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086600" y="2999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G1: $13.5k–$16k, R1: $5.9k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812280" y="3584448"/>
            <a:ext cx="128016" cy="128016"/>
          </a:xfrm>
          <a:prstGeom prst="rect">
            <a:avLst/>
          </a:prstGeom>
          <a:solidFill>
            <a:srgbClr val="68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086600" y="35295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IPO retail tranche: 8,000x oversubscribed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812280" y="4114800"/>
            <a:ext cx="128016" cy="128016"/>
          </a:xfrm>
          <a:prstGeom prst="rect">
            <a:avLst/>
          </a:prstGeom>
          <a:solidFill>
            <a:srgbClr val="68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086600" y="40599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China: ~90% of global shipment volume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James Williams</cp:lastModifiedBy>
  <cp:revision>6</cp:revision>
  <dcterms:created xsi:type="dcterms:W3CDTF">2026-07-29T03:07:39Z</dcterms:created>
  <dcterms:modified xsi:type="dcterms:W3CDTF">2026-07-30T02:31:23Z</dcterms:modified>
</cp:coreProperties>
</file>